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274320" y="42519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C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Gyaana Grama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4919472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0C0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SLMS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5742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61447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 ·  v1.0.0  ·  2025–26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0" y="5029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37760" y="9144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Sathnur Village Library · Offline-first · EN / ಕನ್ನಡ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29844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02352" y="157276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612" dirty="0"/>
          </a:p>
        </p:txBody>
      </p:sp>
      <p:sp>
        <p:nvSpPr>
          <p:cNvPr id="14" name="Text 12"/>
          <p:cNvSpPr/>
          <p:nvPr/>
        </p:nvSpPr>
        <p:spPr>
          <a:xfrm>
            <a:off x="5779008" y="1463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Login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79008" y="17922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4-digit access every session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458200" y="129844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22792" y="157276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22792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12" dirty="0"/>
          </a:p>
        </p:txBody>
      </p:sp>
      <p:sp>
        <p:nvSpPr>
          <p:cNvPr id="19" name="Text 17"/>
          <p:cNvSpPr/>
          <p:nvPr/>
        </p:nvSpPr>
        <p:spPr>
          <a:xfrm>
            <a:off x="9299448" y="1463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99448" y="17922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stats — books, members, overdue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262432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02352" y="289864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612" dirty="0"/>
          </a:p>
        </p:txBody>
      </p:sp>
      <p:sp>
        <p:nvSpPr>
          <p:cNvPr id="24" name="Text 22"/>
          <p:cNvSpPr/>
          <p:nvPr/>
        </p:nvSpPr>
        <p:spPr>
          <a:xfrm>
            <a:off x="5779008" y="2788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79008" y="31181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search &amp; manage all 13,000 titles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58200" y="262432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622792" y="289864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22792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612" dirty="0"/>
          </a:p>
        </p:txBody>
      </p:sp>
      <p:sp>
        <p:nvSpPr>
          <p:cNvPr id="29" name="Text 27"/>
          <p:cNvSpPr/>
          <p:nvPr/>
        </p:nvSpPr>
        <p:spPr>
          <a:xfrm>
            <a:off x="9299448" y="2788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299448" y="31181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villagers &amp; track active loans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37760" y="395020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102352" y="422452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↗️</a:t>
            </a:r>
            <a:endParaRPr lang="en-US" sz="1612" dirty="0"/>
          </a:p>
        </p:txBody>
      </p:sp>
      <p:sp>
        <p:nvSpPr>
          <p:cNvPr id="34" name="Text 32"/>
          <p:cNvSpPr/>
          <p:nvPr/>
        </p:nvSpPr>
        <p:spPr>
          <a:xfrm>
            <a:off x="5779008" y="4114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Return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779008" y="44439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3-step checkout / return flow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458200" y="395020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622792" y="422452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22792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612" dirty="0"/>
          </a:p>
        </p:txBody>
      </p:sp>
      <p:sp>
        <p:nvSpPr>
          <p:cNvPr id="39" name="Text 37"/>
          <p:cNvSpPr/>
          <p:nvPr/>
        </p:nvSpPr>
        <p:spPr>
          <a:xfrm>
            <a:off x="9299448" y="41148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Scanner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99448" y="44439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HID scanner for fast bulk ops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937760" y="527608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102352" y="555040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02352" y="5550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612" dirty="0"/>
          </a:p>
        </p:txBody>
      </p:sp>
      <p:sp>
        <p:nvSpPr>
          <p:cNvPr id="44" name="Text 42"/>
          <p:cNvSpPr/>
          <p:nvPr/>
        </p:nvSpPr>
        <p:spPr>
          <a:xfrm>
            <a:off x="5779008" y="5440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779008" y="5769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rules, PIN security, language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458200" y="5276088"/>
            <a:ext cx="3246120" cy="1170432"/>
          </a:xfrm>
          <a:prstGeom prst="roundRect">
            <a:avLst>
              <a:gd name="adj" fmla="val 7813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622792" y="5550408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22792" y="5550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612" dirty="0"/>
          </a:p>
        </p:txBody>
      </p:sp>
      <p:sp>
        <p:nvSpPr>
          <p:cNvPr id="49" name="Text 47"/>
          <p:cNvSpPr/>
          <p:nvPr/>
        </p:nvSpPr>
        <p:spPr>
          <a:xfrm>
            <a:off x="9299448" y="5440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Import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99448" y="5769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.db backup + Android migration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 ·  LOGIN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In with Your PIN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opens to this screen every time it starts. Enter your 4-digit PIN to unlock.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4663440" cy="4892040"/>
          </a:xfrm>
          <a:prstGeom prst="roundRect">
            <a:avLst>
              <a:gd name="adj" fmla="val 1961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4389120" cy="4617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71600" y="1847088"/>
            <a:ext cx="3456432" cy="566928"/>
          </a:xfrm>
          <a:prstGeom prst="roundRect">
            <a:avLst>
              <a:gd name="adj" fmla="val 9677"/>
            </a:avLst>
          </a:prstGeom>
          <a:solidFill>
            <a:srgbClr val="7880A0">
              <a:alpha val="12000"/>
            </a:srgbClr>
          </a:solidFill>
          <a:ln w="27940">
            <a:solidFill>
              <a:srgbClr val="7880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26464" y="2432304"/>
            <a:ext cx="1289304" cy="201168"/>
          </a:xfrm>
          <a:prstGeom prst="roundRect">
            <a:avLst>
              <a:gd name="adj" fmla="val 18182"/>
            </a:avLst>
          </a:prstGeom>
          <a:solidFill>
            <a:srgbClr val="7880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63040" y="2441448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logo + name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1481328" y="3493008"/>
            <a:ext cx="3236976" cy="2212848"/>
          </a:xfrm>
          <a:prstGeom prst="roundRect">
            <a:avLst>
              <a:gd name="adj" fmla="val 2479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36192" y="5724144"/>
            <a:ext cx="1146658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72768" y="5733288"/>
            <a:ext cx="1055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keypad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536192" y="3675888"/>
            <a:ext cx="777240" cy="475488"/>
          </a:xfrm>
          <a:prstGeom prst="roundRect">
            <a:avLst>
              <a:gd name="adj" fmla="val 11538"/>
            </a:avLst>
          </a:prstGeom>
          <a:solidFill>
            <a:srgbClr val="FFCC55">
              <a:alpha val="12000"/>
            </a:srgbClr>
          </a:solidFill>
          <a:ln w="27940">
            <a:solidFill>
              <a:srgbClr val="FFCC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91056" y="4169664"/>
            <a:ext cx="1004011" cy="201168"/>
          </a:xfrm>
          <a:prstGeom prst="roundRect">
            <a:avLst>
              <a:gd name="adj" fmla="val 18182"/>
            </a:avLst>
          </a:prstGeom>
          <a:solidFill>
            <a:srgbClr val="FFCC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27632" y="4178808"/>
            <a:ext cx="9125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1–9, 0 keys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21792" y="5925312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F06060">
              <a:alpha val="12000"/>
            </a:srgbClr>
          </a:solidFill>
          <a:ln w="27940">
            <a:solidFill>
              <a:srgbClr val="F060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" y="6291072"/>
            <a:ext cx="576072" cy="201168"/>
          </a:xfrm>
          <a:prstGeom prst="roundRect">
            <a:avLst>
              <a:gd name="adj" fmla="val 18182"/>
            </a:avLst>
          </a:prstGeom>
          <a:solidFill>
            <a:srgbClr val="F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6300216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794760" y="5925312"/>
            <a:ext cx="841248" cy="347472"/>
          </a:xfrm>
          <a:prstGeom prst="roundRect">
            <a:avLst>
              <a:gd name="adj" fmla="val 15789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49624" y="6291072"/>
            <a:ext cx="1004011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6300216"/>
            <a:ext cx="9125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⌫ backspace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376672" y="1664208"/>
            <a:ext cx="6400800" cy="2633472"/>
          </a:xfrm>
          <a:prstGeom prst="roundRect">
            <a:avLst>
              <a:gd name="adj" fmla="val 4167"/>
            </a:avLst>
          </a:prstGeom>
          <a:solidFill>
            <a:srgbClr val="181D3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532120" y="1810512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32120" y="181051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690" dirty="0"/>
          </a:p>
        </p:txBody>
      </p:sp>
      <p:sp>
        <p:nvSpPr>
          <p:cNvPr id="26" name="Text 23"/>
          <p:cNvSpPr/>
          <p:nvPr/>
        </p:nvSpPr>
        <p:spPr>
          <a:xfrm>
            <a:off x="6236208" y="18470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log in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532120" y="241401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05856" y="231343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numbered buttons to build your 4-digit PIN.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32120" y="276148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05856" y="266090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Dots appear at the top — one dot fills per digit entered.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532120" y="310896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05856" y="300837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⌫ to delete the last digit, or Clear to start fresh.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532120" y="345643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05856" y="335584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PIN shows an error message — tap Clear and retry.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532120" y="380390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05856" y="37033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launch the default PIN is 1234 — change it immediately.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376672" y="4462272"/>
            <a:ext cx="6400800" cy="1481328"/>
          </a:xfrm>
          <a:prstGeom prst="roundRect">
            <a:avLst>
              <a:gd name="adj" fmla="val 7407"/>
            </a:avLst>
          </a:prstGeom>
          <a:solidFill>
            <a:srgbClr val="1E2440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32120" y="4617720"/>
            <a:ext cx="502920" cy="50292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5321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🎹</a:t>
            </a:r>
            <a:endParaRPr lang="en-US" sz="1430" dirty="0"/>
          </a:p>
        </p:txBody>
      </p:sp>
      <p:sp>
        <p:nvSpPr>
          <p:cNvPr id="40" name="Text 37"/>
          <p:cNvSpPr/>
          <p:nvPr/>
        </p:nvSpPr>
        <p:spPr>
          <a:xfrm>
            <a:off x="6144768" y="46451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Buttons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5532120" y="513892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696712" y="504748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9, 0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066837" y="5047488"/>
            <a:ext cx="3379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PIN digits one at a time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532120" y="545896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696712" y="536752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066837" y="5367528"/>
            <a:ext cx="3379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ALL digits — restart entry from scratch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532120" y="577900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696712" y="5687568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⌫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8066837" y="5687568"/>
            <a:ext cx="3379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only the last digit entered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376672" y="6108192"/>
            <a:ext cx="6400800" cy="548640"/>
          </a:xfrm>
          <a:prstGeom prst="roundRect">
            <a:avLst>
              <a:gd name="adj" fmla="val 16667"/>
            </a:avLst>
          </a:prstGeom>
          <a:solidFill>
            <a:srgbClr val="1A280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532120" y="615391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tip: Change your PIN immediately via Settings → Security. Never share your PIN.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19456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command centre — check this every morning before the library opens.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949440" cy="4956048"/>
          </a:xfrm>
          <a:prstGeom prst="roundRect">
            <a:avLst>
              <a:gd name="adj" fmla="val 1845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19072"/>
            <a:ext cx="6675120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1783080"/>
            <a:ext cx="1572768" cy="1024128"/>
          </a:xfrm>
          <a:prstGeom prst="roundRect">
            <a:avLst>
              <a:gd name="adj" fmla="val 5357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2825496"/>
            <a:ext cx="1004011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834640"/>
            <a:ext cx="9125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304288" y="1783080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59152" y="2825496"/>
            <a:ext cx="718718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95728" y="2834640"/>
            <a:ext cx="6272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041648" y="1783080"/>
            <a:ext cx="1627632" cy="1024128"/>
          </a:xfrm>
          <a:prstGeom prst="roundRect">
            <a:avLst>
              <a:gd name="adj" fmla="val 5357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96512" y="2825496"/>
            <a:ext cx="647395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33088" y="2834640"/>
            <a:ext cx="5559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779008" y="1783080"/>
            <a:ext cx="1600200" cy="1024128"/>
          </a:xfrm>
          <a:prstGeom prst="roundRect">
            <a:avLst>
              <a:gd name="adj" fmla="val 5357"/>
            </a:avLst>
          </a:prstGeom>
          <a:solidFill>
            <a:srgbClr val="F06060">
              <a:alpha val="12000"/>
            </a:srgbClr>
          </a:solidFill>
          <a:ln w="27940">
            <a:solidFill>
              <a:srgbClr val="F060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33872" y="2825496"/>
            <a:ext cx="718718" cy="201168"/>
          </a:xfrm>
          <a:prstGeom prst="roundRect">
            <a:avLst>
              <a:gd name="adj" fmla="val 18182"/>
            </a:avLst>
          </a:prstGeom>
          <a:solidFill>
            <a:srgbClr val="F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70448" y="2834640"/>
            <a:ext cx="6272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21792" y="2880360"/>
            <a:ext cx="6583680" cy="1078992"/>
          </a:xfrm>
          <a:prstGeom prst="roundRect">
            <a:avLst>
              <a:gd name="adj" fmla="val 5085"/>
            </a:avLst>
          </a:prstGeom>
          <a:solidFill>
            <a:srgbClr val="7880A0">
              <a:alpha val="12000"/>
            </a:srgbClr>
          </a:solidFill>
          <a:ln w="27940">
            <a:solidFill>
              <a:srgbClr val="7880A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6656" y="3977640"/>
            <a:ext cx="1503274" cy="201168"/>
          </a:xfrm>
          <a:prstGeom prst="roundRect">
            <a:avLst>
              <a:gd name="adj" fmla="val 18182"/>
            </a:avLst>
          </a:prstGeom>
          <a:solidFill>
            <a:srgbClr val="7880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" y="3986784"/>
            <a:ext cx="1411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Books table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621792" y="4041648"/>
            <a:ext cx="3291840" cy="2331720"/>
          </a:xfrm>
          <a:prstGeom prst="roundRect">
            <a:avLst>
              <a:gd name="adj" fmla="val 2353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6656" y="6391656"/>
            <a:ext cx="1289304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6400800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041648" y="4041648"/>
            <a:ext cx="3291840" cy="2331720"/>
          </a:xfrm>
          <a:prstGeom prst="roundRect">
            <a:avLst>
              <a:gd name="adj" fmla="val 2353"/>
            </a:avLst>
          </a:prstGeom>
          <a:solidFill>
            <a:srgbClr val="F06060">
              <a:alpha val="12000"/>
            </a:srgbClr>
          </a:solidFill>
          <a:ln w="27940">
            <a:solidFill>
              <a:srgbClr val="F0606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096512" y="6391656"/>
            <a:ext cx="1289304" cy="201168"/>
          </a:xfrm>
          <a:prstGeom prst="roundRect">
            <a:avLst>
              <a:gd name="adj" fmla="val 18182"/>
            </a:avLst>
          </a:prstGeom>
          <a:solidFill>
            <a:srgbClr val="F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33088" y="6400800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Returns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662672" y="1600200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181D30"/>
          </a:solidFill>
          <a:ln w="12700">
            <a:solidFill>
              <a:srgbClr val="4A90E2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818120" y="1874520"/>
            <a:ext cx="530352" cy="530352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18120" y="18745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</a:t>
            </a:r>
            <a:endParaRPr lang="en-US" sz="1508" dirty="0"/>
          </a:p>
        </p:txBody>
      </p:sp>
      <p:sp>
        <p:nvSpPr>
          <p:cNvPr id="32" name="Text 29"/>
          <p:cNvSpPr/>
          <p:nvPr/>
        </p:nvSpPr>
        <p:spPr>
          <a:xfrm>
            <a:off x="8458200" y="1691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458200" y="21122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 added to the library, all formats and genres.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662672" y="2862072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181D30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818120" y="3136392"/>
            <a:ext cx="530352" cy="530352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18120" y="3136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508" dirty="0"/>
          </a:p>
        </p:txBody>
      </p:sp>
      <p:sp>
        <p:nvSpPr>
          <p:cNvPr id="37" name="Text 34"/>
          <p:cNvSpPr/>
          <p:nvPr/>
        </p:nvSpPr>
        <p:spPr>
          <a:xfrm>
            <a:off x="8458200" y="29535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458200" y="337413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registered borrowers from the village.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662672" y="4123944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181D3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818120" y="4398264"/>
            <a:ext cx="530352" cy="5303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818120" y="43982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↗️</a:t>
            </a:r>
            <a:endParaRPr lang="en-US" sz="1508" dirty="0"/>
          </a:p>
        </p:txBody>
      </p:sp>
      <p:sp>
        <p:nvSpPr>
          <p:cNvPr id="42" name="Text 39"/>
          <p:cNvSpPr/>
          <p:nvPr/>
        </p:nvSpPr>
        <p:spPr>
          <a:xfrm>
            <a:off x="8458200" y="421538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Issued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8458200" y="463600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currently checked out — not on the shelf.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662672" y="5385816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181D30"/>
          </a:solidFill>
          <a:ln w="12700">
            <a:solidFill>
              <a:srgbClr val="F0606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7818120" y="5660136"/>
            <a:ext cx="530352" cy="530352"/>
          </a:xfrm>
          <a:prstGeom prst="ellipse">
            <a:avLst/>
          </a:prstGeom>
          <a:solidFill>
            <a:srgbClr val="F0606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18120" y="56601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508" dirty="0"/>
          </a:p>
        </p:txBody>
      </p:sp>
      <p:sp>
        <p:nvSpPr>
          <p:cNvPr id="47" name="Text 44"/>
          <p:cNvSpPr/>
          <p:nvPr/>
        </p:nvSpPr>
        <p:spPr>
          <a:xfrm>
            <a:off x="8458200" y="54772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6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Overdue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8458200" y="58978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whose due date has passed — action needed.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 &amp; 4  ·  SETTINGS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— Rules, PIN &amp; Language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controls how the library behaves — scroll down in Settings to reach all sections.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846320" cy="4956048"/>
          </a:xfrm>
          <a:prstGeom prst="roundRect">
            <a:avLst>
              <a:gd name="adj" fmla="val 1887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19072"/>
            <a:ext cx="4572000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1737360"/>
            <a:ext cx="4572000" cy="1572768"/>
          </a:xfrm>
          <a:prstGeom prst="roundRect">
            <a:avLst>
              <a:gd name="adj" fmla="val 3488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3328416"/>
            <a:ext cx="1146658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3337560"/>
            <a:ext cx="1055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Loan Rules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21792" y="3401568"/>
            <a:ext cx="4572000" cy="1536192"/>
          </a:xfrm>
          <a:prstGeom prst="roundRect">
            <a:avLst>
              <a:gd name="adj" fmla="val 3571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" y="4956048"/>
            <a:ext cx="1931213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4965192"/>
            <a:ext cx="18397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Security / Change PIN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21792" y="5010912"/>
            <a:ext cx="4572000" cy="932688"/>
          </a:xfrm>
          <a:prstGeom prst="roundRect">
            <a:avLst>
              <a:gd name="adj" fmla="val 5882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" y="5961888"/>
            <a:ext cx="1503274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5971032"/>
            <a:ext cx="1411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Language Toggle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532120" y="1600200"/>
            <a:ext cx="6291072" cy="1600200"/>
          </a:xfrm>
          <a:prstGeom prst="roundRect">
            <a:avLst>
              <a:gd name="adj" fmla="val 6857"/>
            </a:avLst>
          </a:prstGeom>
          <a:solidFill>
            <a:srgbClr val="181D3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87568" y="210312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8756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612" dirty="0"/>
          </a:p>
        </p:txBody>
      </p:sp>
      <p:sp>
        <p:nvSpPr>
          <p:cNvPr id="20" name="Shape 17"/>
          <p:cNvSpPr/>
          <p:nvPr/>
        </p:nvSpPr>
        <p:spPr>
          <a:xfrm>
            <a:off x="5687568" y="1728216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87568" y="172821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144768" y="173736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Rules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687568" y="2240280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2148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Duration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203082" y="2148840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 member may keep a book (default: 14)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687568" y="256946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52160" y="24780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Per Day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203082" y="2478024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charged per overdue day (default: ₹1)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687568" y="289864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52160" y="28072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button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203082" y="2807208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Save — applies to ALL future issues immediately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532120" y="3337560"/>
            <a:ext cx="6291072" cy="1600200"/>
          </a:xfrm>
          <a:prstGeom prst="roundRect">
            <a:avLst>
              <a:gd name="adj" fmla="val 6857"/>
            </a:avLst>
          </a:prstGeom>
          <a:solidFill>
            <a:srgbClr val="181D30"/>
          </a:solidFill>
          <a:ln w="12700">
            <a:solidFill>
              <a:srgbClr val="4A90E2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687568" y="3840480"/>
            <a:ext cx="566928" cy="566928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687568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612" dirty="0"/>
          </a:p>
        </p:txBody>
      </p:sp>
      <p:sp>
        <p:nvSpPr>
          <p:cNvPr id="35" name="Shape 32"/>
          <p:cNvSpPr/>
          <p:nvPr/>
        </p:nvSpPr>
        <p:spPr>
          <a:xfrm>
            <a:off x="5687568" y="3465576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87568" y="34655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144768" y="347472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PIN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5687568" y="3977640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852160" y="388620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PIN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203082" y="3886200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PIN you use now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687568" y="4306824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852160" y="421538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PIN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203082" y="4215384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chosen new 4-digit PIN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687568" y="463600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852160" y="45445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PIN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203082" y="4544568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new PIN, then tap Change PIN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532120" y="5074920"/>
            <a:ext cx="6291072" cy="1600200"/>
          </a:xfrm>
          <a:prstGeom prst="roundRect">
            <a:avLst>
              <a:gd name="adj" fmla="val 6857"/>
            </a:avLst>
          </a:prstGeom>
          <a:solidFill>
            <a:srgbClr val="181D30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5687568" y="5577840"/>
            <a:ext cx="566928" cy="566928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687568" y="5577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12" dirty="0"/>
          </a:p>
        </p:txBody>
      </p:sp>
      <p:sp>
        <p:nvSpPr>
          <p:cNvPr id="50" name="Shape 47"/>
          <p:cNvSpPr/>
          <p:nvPr/>
        </p:nvSpPr>
        <p:spPr>
          <a:xfrm>
            <a:off x="5687568" y="5202936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687568" y="520293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6144768" y="521208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Toggle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5687568" y="5715000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852160" y="56235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English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8203082" y="5623560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"Switch to ಕನ್ನಡ" to switch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5687568" y="6044184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852160" y="595274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switch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8203082" y="5952744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app UI changes at once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5687568" y="6373368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852160" y="628192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back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8203082" y="6281928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again to return to English any time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5532120" y="6803136"/>
            <a:ext cx="6291072" cy="292608"/>
          </a:xfrm>
          <a:prstGeom prst="roundRect">
            <a:avLst>
              <a:gd name="adj" fmla="val 25000"/>
            </a:avLst>
          </a:prstGeom>
          <a:solidFill>
            <a:srgbClr val="1E2440"/>
          </a:solidFill>
          <a:ln w="12700">
            <a:solidFill>
              <a:srgbClr val="7880A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623560" y="6830568"/>
            <a:ext cx="6108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Backup &amp; Restore and Android Import are below Language — scroll down in Settings to reach them.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74320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·  BACKUP &amp; IMPORT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&amp; Android Import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data weekly. Import Android books once during migration.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846320" cy="4956048"/>
          </a:xfrm>
          <a:prstGeom prst="roundRect">
            <a:avLst>
              <a:gd name="adj" fmla="val 1887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19072"/>
            <a:ext cx="4572000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1737360"/>
            <a:ext cx="4572000" cy="2423160"/>
          </a:xfrm>
          <a:prstGeom prst="roundRect">
            <a:avLst>
              <a:gd name="adj" fmla="val 2264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4178808"/>
            <a:ext cx="1931213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187952"/>
            <a:ext cx="18397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Restore section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21792" y="4251960"/>
            <a:ext cx="4572000" cy="2121408"/>
          </a:xfrm>
          <a:prstGeom prst="roundRect">
            <a:avLst>
              <a:gd name="adj" fmla="val 2586"/>
            </a:avLst>
          </a:prstGeom>
          <a:solidFill>
            <a:srgbClr val="A374F7">
              <a:alpha val="12000"/>
            </a:srgbClr>
          </a:solidFill>
          <a:ln w="27940">
            <a:solidFill>
              <a:srgbClr val="A374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" y="6391656"/>
            <a:ext cx="1788566" cy="201168"/>
          </a:xfrm>
          <a:prstGeom prst="roundRect">
            <a:avLst>
              <a:gd name="adj" fmla="val 18182"/>
            </a:avLst>
          </a:prstGeom>
          <a:solidFill>
            <a:srgbClr val="A374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6400800"/>
            <a:ext cx="16971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Import section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532120" y="1600200"/>
            <a:ext cx="6291072" cy="2578608"/>
          </a:xfrm>
          <a:prstGeom prst="roundRect">
            <a:avLst>
              <a:gd name="adj" fmla="val 4255"/>
            </a:avLst>
          </a:prstGeom>
          <a:solidFill>
            <a:srgbClr val="181D3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87568" y="173736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1690" dirty="0"/>
          </a:p>
        </p:txBody>
      </p:sp>
      <p:sp>
        <p:nvSpPr>
          <p:cNvPr id="17" name="Text 14"/>
          <p:cNvSpPr/>
          <p:nvPr/>
        </p:nvSpPr>
        <p:spPr>
          <a:xfrm>
            <a:off x="6400800" y="1764792"/>
            <a:ext cx="5285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&amp; Restore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0" y="214884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safety net — run this every week.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87568" y="257860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52160" y="248716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Now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03082" y="2487168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 timestamped .db file to AppData/backups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687568" y="296265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52160" y="28712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Backups: 7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203082" y="2871216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many backups exist (7-day rolling window)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687568" y="334670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52160" y="325526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03082" y="3255264"/>
            <a:ext cx="335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to any saved backup if data is corrupted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32120" y="4315968"/>
            <a:ext cx="6291072" cy="2240280"/>
          </a:xfrm>
          <a:prstGeom prst="roundRect">
            <a:avLst>
              <a:gd name="adj" fmla="val 4898"/>
            </a:avLst>
          </a:prstGeom>
          <a:solidFill>
            <a:srgbClr val="181D30"/>
          </a:solidFill>
          <a:ln w="12700">
            <a:solidFill>
              <a:srgbClr val="A374F7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687568" y="4462272"/>
            <a:ext cx="594360" cy="594360"/>
          </a:xfrm>
          <a:prstGeom prst="ellipse">
            <a:avLst/>
          </a:prstGeom>
          <a:solidFill>
            <a:srgbClr val="A374F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87568" y="4462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</a:t>
            </a:r>
            <a:endParaRPr lang="en-US" sz="1690" dirty="0"/>
          </a:p>
        </p:txBody>
      </p:sp>
      <p:sp>
        <p:nvSpPr>
          <p:cNvPr id="31" name="Text 28"/>
          <p:cNvSpPr/>
          <p:nvPr/>
        </p:nvSpPr>
        <p:spPr>
          <a:xfrm>
            <a:off x="6400800" y="4480560"/>
            <a:ext cx="5285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37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DB Import  (one-time)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400800" y="4846320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books from the old mobile app.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687568" y="5285232"/>
            <a:ext cx="91440" cy="91440"/>
          </a:xfrm>
          <a:prstGeom prst="ellipse">
            <a:avLst/>
          </a:prstGeom>
          <a:solidFill>
            <a:srgbClr val="A374F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52160" y="5175504"/>
            <a:ext cx="583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.db SQLite file from the Android app to USB/Drive.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687568" y="5596128"/>
            <a:ext cx="91440" cy="91440"/>
          </a:xfrm>
          <a:prstGeom prst="ellipse">
            <a:avLst/>
          </a:prstGeom>
          <a:solidFill>
            <a:srgbClr val="A374F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852160" y="5486400"/>
            <a:ext cx="583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"Select .db File" and choose the exported database.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687568" y="5907024"/>
            <a:ext cx="91440" cy="91440"/>
          </a:xfrm>
          <a:prstGeom prst="ellipse">
            <a:avLst/>
          </a:prstGeom>
          <a:solidFill>
            <a:srgbClr val="A374F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52160" y="5797296"/>
            <a:ext cx="583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import automatically — GG-XXXX IDs auto-assigned.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687568" y="6217920"/>
            <a:ext cx="91440" cy="91440"/>
          </a:xfrm>
          <a:prstGeom prst="ellipse">
            <a:avLst/>
          </a:prstGeom>
          <a:solidFill>
            <a:srgbClr val="A374F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852160" y="6108192"/>
            <a:ext cx="5833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titles (same title + author) are merged, not doubled.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532120" y="6675120"/>
            <a:ext cx="6291072" cy="347472"/>
          </a:xfrm>
          <a:prstGeom prst="roundRect">
            <a:avLst>
              <a:gd name="adj" fmla="val 21053"/>
            </a:avLst>
          </a:prstGeom>
          <a:solidFill>
            <a:srgbClr val="180A28"/>
          </a:solidFill>
          <a:ln w="12700">
            <a:solidFill>
              <a:srgbClr val="A374F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623560" y="6711696"/>
            <a:ext cx="6108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37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Import is a one-time migration. After that, use Add Book form for all new books.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·  BOOKS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 List — All Titles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search, and manage every book in the Sathnur library collection.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949440" cy="4956048"/>
          </a:xfrm>
          <a:prstGeom prst="roundRect">
            <a:avLst>
              <a:gd name="adj" fmla="val 1845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19072"/>
            <a:ext cx="6675120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1737360"/>
            <a:ext cx="3977640" cy="566928"/>
          </a:xfrm>
          <a:prstGeom prst="roundRect">
            <a:avLst>
              <a:gd name="adj" fmla="val 9677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2322576"/>
            <a:ext cx="932688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33172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736592" y="1719072"/>
            <a:ext cx="2697480" cy="621792"/>
          </a:xfrm>
          <a:prstGeom prst="roundRect">
            <a:avLst>
              <a:gd name="adj" fmla="val 8824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91456" y="2359152"/>
            <a:ext cx="1431950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28032" y="2368296"/>
            <a:ext cx="13405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Book button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21792" y="2816352"/>
            <a:ext cx="1371600" cy="4005072"/>
          </a:xfrm>
          <a:prstGeom prst="roundRect">
            <a:avLst>
              <a:gd name="adj" fmla="val 4000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" y="6839712"/>
            <a:ext cx="1004011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6848856"/>
            <a:ext cx="91257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GG-XXXX IDs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440680" y="2706624"/>
            <a:ext cx="1508760" cy="530352"/>
          </a:xfrm>
          <a:prstGeom prst="roundRect">
            <a:avLst>
              <a:gd name="adj" fmla="val 10345"/>
            </a:avLst>
          </a:prstGeom>
          <a:solidFill>
            <a:srgbClr val="F06060">
              <a:alpha val="12000"/>
            </a:srgbClr>
          </a:solidFill>
          <a:ln w="27940">
            <a:solidFill>
              <a:srgbClr val="F060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95544" y="3255264"/>
            <a:ext cx="718718" cy="201168"/>
          </a:xfrm>
          <a:prstGeom prst="roundRect">
            <a:avLst>
              <a:gd name="adj" fmla="val 18182"/>
            </a:avLst>
          </a:prstGeom>
          <a:solidFill>
            <a:srgbClr val="F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3264408"/>
            <a:ext cx="6272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440680" y="4096512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95544" y="4617720"/>
            <a:ext cx="647395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32120" y="4626864"/>
            <a:ext cx="5559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0680" y="5321808"/>
            <a:ext cx="1508760" cy="475488"/>
          </a:xfrm>
          <a:prstGeom prst="roundRect">
            <a:avLst>
              <a:gd name="adj" fmla="val 11538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95544" y="5815584"/>
            <a:ext cx="861365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32120" y="5824728"/>
            <a:ext cx="76992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693408" y="2724912"/>
            <a:ext cx="749808" cy="3310128"/>
          </a:xfrm>
          <a:prstGeom prst="roundRect">
            <a:avLst>
              <a:gd name="adj" fmla="val 7317"/>
            </a:avLst>
          </a:prstGeom>
          <a:solidFill>
            <a:srgbClr val="7880A0">
              <a:alpha val="12000"/>
            </a:srgbClr>
          </a:solidFill>
          <a:ln w="27940">
            <a:solidFill>
              <a:srgbClr val="7880A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48272" y="6053328"/>
            <a:ext cx="1146658" cy="201168"/>
          </a:xfrm>
          <a:prstGeom prst="roundRect">
            <a:avLst>
              <a:gd name="adj" fmla="val 18182"/>
            </a:avLst>
          </a:prstGeom>
          <a:solidFill>
            <a:srgbClr val="7880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84848" y="6062472"/>
            <a:ext cx="1055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/ Delete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662672" y="1600200"/>
            <a:ext cx="4206240" cy="1810512"/>
          </a:xfrm>
          <a:prstGeom prst="roundRect">
            <a:avLst>
              <a:gd name="adj" fmla="val 6061"/>
            </a:avLst>
          </a:prstGeom>
          <a:solidFill>
            <a:srgbClr val="181D30"/>
          </a:solidFill>
          <a:ln w="12700">
            <a:solidFill>
              <a:srgbClr val="36407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845552" y="17190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Badges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845552" y="2057400"/>
            <a:ext cx="3886200" cy="22860"/>
          </a:xfrm>
          <a:prstGeom prst="rect">
            <a:avLst/>
          </a:prstGeom>
          <a:solidFill>
            <a:srgbClr val="2A335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45552" y="2176272"/>
            <a:ext cx="1115568" cy="274320"/>
          </a:xfrm>
          <a:prstGeom prst="roundRect">
            <a:avLst>
              <a:gd name="adj" fmla="val 26667"/>
            </a:avLst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63840" y="2176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070848" y="21945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shelf — can be issued now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7845552" y="2615184"/>
            <a:ext cx="1115568" cy="274320"/>
          </a:xfrm>
          <a:prstGeom prst="roundRect">
            <a:avLst>
              <a:gd name="adj" fmla="val 2666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63840" y="2615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070848" y="26334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out to a member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845552" y="3054096"/>
            <a:ext cx="1115568" cy="274320"/>
          </a:xfrm>
          <a:prstGeom prst="roundRect">
            <a:avLst>
              <a:gd name="adj" fmla="val 26667"/>
            </a:avLst>
          </a:prstGeom>
          <a:solidFill>
            <a:srgbClr val="F06060"/>
          </a:solidFill>
          <a:ln w="12700">
            <a:solidFill>
              <a:srgbClr val="F0606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863840" y="30540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9070848" y="3072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repair before re-circulation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662672" y="3547872"/>
            <a:ext cx="4206240" cy="1664208"/>
          </a:xfrm>
          <a:prstGeom prst="roundRect">
            <a:avLst>
              <a:gd name="adj" fmla="val 6593"/>
            </a:avLst>
          </a:prstGeom>
          <a:solidFill>
            <a:srgbClr val="181D30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845552" y="3657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per Book Row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845552" y="413308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010144" y="40416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View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9458554" y="4041648"/>
            <a:ext cx="2150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book details in a side panel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845552" y="449884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010144" y="440740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Edit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9458554" y="4407408"/>
            <a:ext cx="2150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any field — title, author, genre…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845552" y="4864608"/>
            <a:ext cx="91440" cy="91440"/>
          </a:xfrm>
          <a:prstGeom prst="ellipse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010144" y="477316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Delete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9458554" y="4773168"/>
            <a:ext cx="21506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remove (cannot undo)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662672" y="5349240"/>
            <a:ext cx="4206240" cy="1207008"/>
          </a:xfrm>
          <a:prstGeom prst="roundRect">
            <a:avLst>
              <a:gd name="adj" fmla="val 9091"/>
            </a:avLst>
          </a:prstGeom>
          <a:solidFill>
            <a:srgbClr val="1E2440"/>
          </a:solidFill>
          <a:ln w="12700">
            <a:solidFill>
              <a:srgbClr val="1FC8C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845552" y="5468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C8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Tips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7845552" y="5760720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book title, author name, or GG-XXXX accession number.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ಕ button next to the search bar to switch search to Kannada script.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7 &amp; 8  ·  ADD BOOK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New Book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via: Books (sidebar) → + Add Book (top right). Fill the form top-to-bottom.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279392" cy="4956048"/>
          </a:xfrm>
          <a:prstGeom prst="roundRect">
            <a:avLst>
              <a:gd name="adj" fmla="val 2137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19072"/>
            <a:ext cx="4059936" cy="4681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6400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form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919472" y="1600200"/>
            <a:ext cx="4279392" cy="4956048"/>
          </a:xfrm>
          <a:prstGeom prst="roundRect">
            <a:avLst>
              <a:gd name="adj" fmla="val 2137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19072"/>
            <a:ext cx="4059936" cy="46817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33872" y="6400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of form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1792" y="1737360"/>
            <a:ext cx="3913632" cy="960120"/>
          </a:xfrm>
          <a:prstGeom prst="roundRect">
            <a:avLst>
              <a:gd name="adj" fmla="val 5714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76656" y="2715768"/>
            <a:ext cx="1146658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13232" y="2724912"/>
            <a:ext cx="1055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EN + KN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21792" y="2761488"/>
            <a:ext cx="3913632" cy="1024128"/>
          </a:xfrm>
          <a:prstGeom prst="roundRect">
            <a:avLst>
              <a:gd name="adj" fmla="val 5357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76656" y="3803904"/>
            <a:ext cx="1217981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13232" y="3813048"/>
            <a:ext cx="1126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EN + KN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621792" y="3858768"/>
            <a:ext cx="3913632" cy="1389888"/>
          </a:xfrm>
          <a:prstGeom prst="roundRect">
            <a:avLst>
              <a:gd name="adj" fmla="val 3947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6656" y="5266944"/>
            <a:ext cx="1574597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13232" y="5276088"/>
            <a:ext cx="148315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Details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621792" y="5321808"/>
            <a:ext cx="3913632" cy="749808"/>
          </a:xfrm>
          <a:prstGeom prst="roundRect">
            <a:avLst>
              <a:gd name="adj" fmla="val 7317"/>
            </a:avLst>
          </a:prstGeom>
          <a:solidFill>
            <a:srgbClr val="A374F7">
              <a:alpha val="12000"/>
            </a:srgbClr>
          </a:solidFill>
          <a:ln w="27940">
            <a:solidFill>
              <a:srgbClr val="A374F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6656" y="6089904"/>
            <a:ext cx="1217981" cy="201168"/>
          </a:xfrm>
          <a:prstGeom prst="roundRect">
            <a:avLst>
              <a:gd name="adj" fmla="val 18182"/>
            </a:avLst>
          </a:prstGeom>
          <a:solidFill>
            <a:srgbClr val="A374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13232" y="6099048"/>
            <a:ext cx="1126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+ Copies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621792" y="6144768"/>
            <a:ext cx="3913632" cy="347472"/>
          </a:xfrm>
          <a:prstGeom prst="roundRect">
            <a:avLst>
              <a:gd name="adj" fmla="val 15789"/>
            </a:avLst>
          </a:prstGeom>
          <a:solidFill>
            <a:srgbClr val="FFCC55">
              <a:alpha val="12000"/>
            </a:srgbClr>
          </a:solidFill>
          <a:ln w="27940">
            <a:solidFill>
              <a:srgbClr val="FFCC5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76656" y="6510528"/>
            <a:ext cx="1075334" cy="201168"/>
          </a:xfrm>
          <a:prstGeom prst="roundRect">
            <a:avLst>
              <a:gd name="adj" fmla="val 18182"/>
            </a:avLst>
          </a:prstGeom>
          <a:solidFill>
            <a:srgbClr val="FFCC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13232" y="6519672"/>
            <a:ext cx="9838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Accession ID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5047488" y="1737360"/>
            <a:ext cx="3913632" cy="960120"/>
          </a:xfrm>
          <a:prstGeom prst="roundRect">
            <a:avLst>
              <a:gd name="adj" fmla="val 5714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102352" y="2715768"/>
            <a:ext cx="1217981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138928" y="2724912"/>
            <a:ext cx="1126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EN + KN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5047488" y="2761488"/>
            <a:ext cx="3913632" cy="1389888"/>
          </a:xfrm>
          <a:prstGeom prst="roundRect">
            <a:avLst>
              <a:gd name="adj" fmla="val 3947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102352" y="4169664"/>
            <a:ext cx="1574597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138928" y="4178808"/>
            <a:ext cx="148315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Details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5047488" y="4224528"/>
            <a:ext cx="3913632" cy="960120"/>
          </a:xfrm>
          <a:prstGeom prst="roundRect">
            <a:avLst>
              <a:gd name="adj" fmla="val 5714"/>
            </a:avLst>
          </a:prstGeom>
          <a:solidFill>
            <a:srgbClr val="A374F7">
              <a:alpha val="12000"/>
            </a:srgbClr>
          </a:solidFill>
          <a:ln w="27940">
            <a:solidFill>
              <a:srgbClr val="A374F7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102352" y="5202936"/>
            <a:ext cx="1217981" cy="201168"/>
          </a:xfrm>
          <a:prstGeom prst="roundRect">
            <a:avLst>
              <a:gd name="adj" fmla="val 18182"/>
            </a:avLst>
          </a:prstGeom>
          <a:solidFill>
            <a:srgbClr val="A374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138928" y="5212080"/>
            <a:ext cx="1126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+ Copies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5047488" y="5257800"/>
            <a:ext cx="3913632" cy="658368"/>
          </a:xfrm>
          <a:prstGeom prst="roundRect">
            <a:avLst>
              <a:gd name="adj" fmla="val 8333"/>
            </a:avLst>
          </a:prstGeom>
          <a:solidFill>
            <a:srgbClr val="FFCC55">
              <a:alpha val="12000"/>
            </a:srgbClr>
          </a:solidFill>
          <a:ln w="27940">
            <a:solidFill>
              <a:srgbClr val="FFCC55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102352" y="5934456"/>
            <a:ext cx="2145182" cy="201168"/>
          </a:xfrm>
          <a:prstGeom prst="roundRect">
            <a:avLst>
              <a:gd name="adj" fmla="val 18182"/>
            </a:avLst>
          </a:prstGeom>
          <a:solidFill>
            <a:srgbClr val="FFCC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138928" y="5943600"/>
            <a:ext cx="20537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Accession ID (auto GG-XXXX)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5047488" y="5961888"/>
            <a:ext cx="3913632" cy="566928"/>
          </a:xfrm>
          <a:prstGeom prst="roundRect">
            <a:avLst>
              <a:gd name="adj" fmla="val 9677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102352" y="6547104"/>
            <a:ext cx="1859890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138928" y="6556248"/>
            <a:ext cx="1768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+ Add Book button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9381744" y="1600200"/>
            <a:ext cx="2487168" cy="4956048"/>
          </a:xfrm>
          <a:prstGeom prst="roundRect">
            <a:avLst>
              <a:gd name="adj" fmla="val 4412"/>
            </a:avLst>
          </a:prstGeom>
          <a:solidFill>
            <a:srgbClr val="181D30"/>
          </a:solidFill>
          <a:ln w="12700">
            <a:solidFill>
              <a:srgbClr val="36407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9509760" y="171907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Fields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9509760" y="2057400"/>
            <a:ext cx="2212848" cy="22860"/>
          </a:xfrm>
          <a:prstGeom prst="rect">
            <a:avLst/>
          </a:prstGeom>
          <a:solidFill>
            <a:srgbClr val="2A335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491472" y="2176272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9491472" y="217627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9838944" y="217627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(EN)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9838944" y="25603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(KN)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9491472" y="2944368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491472" y="29443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9838944" y="29443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(EN)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9838944" y="332841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(KN)</a:t>
            </a:r>
            <a:endParaRPr lang="en-US" sz="1000" dirty="0"/>
          </a:p>
        </p:txBody>
      </p:sp>
      <p:sp>
        <p:nvSpPr>
          <p:cNvPr id="53" name="Text 49"/>
          <p:cNvSpPr/>
          <p:nvPr/>
        </p:nvSpPr>
        <p:spPr>
          <a:xfrm>
            <a:off x="9838944" y="37124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9838944" y="409651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9838944" y="44805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56" name="Text 52"/>
          <p:cNvSpPr/>
          <p:nvPr/>
        </p:nvSpPr>
        <p:spPr>
          <a:xfrm>
            <a:off x="9838944" y="486460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9838944" y="524865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Copies</a:t>
            </a:r>
            <a:endParaRPr lang="en-US" sz="1000" dirty="0"/>
          </a:p>
        </p:txBody>
      </p:sp>
      <p:sp>
        <p:nvSpPr>
          <p:cNvPr id="58" name="Text 54"/>
          <p:cNvSpPr/>
          <p:nvPr/>
        </p:nvSpPr>
        <p:spPr>
          <a:xfrm>
            <a:off x="9838944" y="563270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Accession ID</a:t>
            </a:r>
            <a:endParaRPr lang="en-US" sz="1000" dirty="0"/>
          </a:p>
        </p:txBody>
      </p:sp>
      <p:sp>
        <p:nvSpPr>
          <p:cNvPr id="59" name="Text 55"/>
          <p:cNvSpPr/>
          <p:nvPr/>
        </p:nvSpPr>
        <p:spPr>
          <a:xfrm>
            <a:off x="9838944" y="60167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60" name="Text 56"/>
          <p:cNvSpPr/>
          <p:nvPr/>
        </p:nvSpPr>
        <p:spPr>
          <a:xfrm>
            <a:off x="9491472" y="64008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Required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 &amp; 10  ·  MEMBERS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 — List &amp; Add New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borrower must be a registered member before a book can be issued to them.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279392" cy="4956048"/>
          </a:xfrm>
          <a:prstGeom prst="roundRect">
            <a:avLst>
              <a:gd name="adj" fmla="val 2137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19072"/>
            <a:ext cx="4059936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1737360"/>
            <a:ext cx="3913632" cy="566928"/>
          </a:xfrm>
          <a:prstGeom prst="roundRect">
            <a:avLst>
              <a:gd name="adj" fmla="val 9677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2322576"/>
            <a:ext cx="932688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33172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21792" y="2359152"/>
            <a:ext cx="1389888" cy="475488"/>
          </a:xfrm>
          <a:prstGeom prst="roundRect">
            <a:avLst>
              <a:gd name="adj" fmla="val 11538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76656" y="2852928"/>
            <a:ext cx="647395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862072"/>
            <a:ext cx="5559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MEM-ID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121408" y="2359152"/>
            <a:ext cx="2286000" cy="475488"/>
          </a:xfrm>
          <a:prstGeom prst="roundRect">
            <a:avLst>
              <a:gd name="adj" fmla="val 11538"/>
            </a:avLst>
          </a:prstGeom>
          <a:solidFill>
            <a:srgbClr val="C8D0E8">
              <a:alpha val="12000"/>
            </a:srgbClr>
          </a:solidFill>
          <a:ln w="27940">
            <a:solidFill>
              <a:srgbClr val="C8D0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76272" y="2852928"/>
            <a:ext cx="1075334" cy="201168"/>
          </a:xfrm>
          <a:prstGeom prst="roundRect">
            <a:avLst>
              <a:gd name="adj" fmla="val 18182"/>
            </a:avLst>
          </a:prstGeom>
          <a:solidFill>
            <a:srgbClr val="C8D0E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12848" y="2862072"/>
            <a:ext cx="9838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Phone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187952" y="1664208"/>
            <a:ext cx="685800" cy="621792"/>
          </a:xfrm>
          <a:prstGeom prst="roundRect">
            <a:avLst>
              <a:gd name="adj" fmla="val 8824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42816" y="2304288"/>
            <a:ext cx="576072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79392" y="2313432"/>
            <a:ext cx="484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864608" y="4251960"/>
            <a:ext cx="411480" cy="20116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0600" y="44622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Member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440680" y="1600200"/>
            <a:ext cx="6291072" cy="4956048"/>
          </a:xfrm>
          <a:prstGeom prst="roundRect">
            <a:avLst>
              <a:gd name="adj" fmla="val 1845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719072"/>
            <a:ext cx="6053328" cy="4681728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596128" y="1737360"/>
            <a:ext cx="5989320" cy="987552"/>
          </a:xfrm>
          <a:prstGeom prst="roundRect">
            <a:avLst>
              <a:gd name="adj" fmla="val 5556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650992" y="2743200"/>
            <a:ext cx="2216506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687568" y="2752344"/>
            <a:ext cx="21250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 — Name EN + KN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5596128" y="2788920"/>
            <a:ext cx="5989320" cy="987552"/>
          </a:xfrm>
          <a:prstGeom prst="roundRect">
            <a:avLst>
              <a:gd name="adj" fmla="val 5556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650992" y="3794760"/>
            <a:ext cx="1859890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87568" y="3803904"/>
            <a:ext cx="1768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— Phone + Email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5596128" y="3840480"/>
            <a:ext cx="5989320" cy="749808"/>
          </a:xfrm>
          <a:prstGeom prst="roundRect">
            <a:avLst>
              <a:gd name="adj" fmla="val 7317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50992" y="4608576"/>
            <a:ext cx="1289304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687568" y="4617720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EN + KN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5596128" y="4663440"/>
            <a:ext cx="5989320" cy="987552"/>
          </a:xfrm>
          <a:prstGeom prst="roundRect">
            <a:avLst>
              <a:gd name="adj" fmla="val 5556"/>
            </a:avLst>
          </a:prstGeom>
          <a:solidFill>
            <a:srgbClr val="A374F7">
              <a:alpha val="12000"/>
            </a:srgbClr>
          </a:solidFill>
          <a:ln w="27940">
            <a:solidFill>
              <a:srgbClr val="A374F7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650992" y="5669280"/>
            <a:ext cx="2359152" cy="201168"/>
          </a:xfrm>
          <a:prstGeom prst="roundRect">
            <a:avLst>
              <a:gd name="adj" fmla="val 18182"/>
            </a:avLst>
          </a:prstGeom>
          <a:solidFill>
            <a:srgbClr val="A374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687568" y="5678424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ID (auto) + Type + Date</a:t>
            </a:r>
            <a:endParaRPr lang="en-US" sz="750" dirty="0"/>
          </a:p>
        </p:txBody>
      </p:sp>
      <p:sp>
        <p:nvSpPr>
          <p:cNvPr id="36" name="Shape 32"/>
          <p:cNvSpPr/>
          <p:nvPr/>
        </p:nvSpPr>
        <p:spPr>
          <a:xfrm>
            <a:off x="457200" y="6629400"/>
            <a:ext cx="11411712" cy="384048"/>
          </a:xfrm>
          <a:prstGeom prst="roundRect">
            <a:avLst>
              <a:gd name="adj" fmla="val 19048"/>
            </a:avLst>
          </a:prstGeom>
          <a:solidFill>
            <a:srgbClr val="1E24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21792" y="666597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Member ID (MEM-XXXX) is auto-assigned on save. Membership Type defaults to "regular". Email and Address are optional.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92608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11 &amp; 12  ·  ISSUE BOOK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a Book — 3-Step Flow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618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3350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Member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61488" y="1453896"/>
            <a:ext cx="256032" cy="54864"/>
          </a:xfrm>
          <a:prstGeom prst="rect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261872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1E2440"/>
          </a:solidFill>
          <a:ln w="12700">
            <a:solidFill>
              <a:srgbClr val="364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12618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93008" y="13350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Book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21808" y="1453896"/>
            <a:ext cx="256032" cy="54864"/>
          </a:xfrm>
          <a:prstGeom prst="rect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261872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1E2440"/>
          </a:solidFill>
          <a:ln w="12700">
            <a:solidFill>
              <a:srgbClr val="364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12618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53328" y="13350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Issue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810512"/>
            <a:ext cx="4754880" cy="4745736"/>
          </a:xfrm>
          <a:prstGeom prst="roundRect">
            <a:avLst>
              <a:gd name="adj" fmla="val 1927"/>
            </a:avLst>
          </a:prstGeom>
          <a:solidFill>
            <a:srgbClr val="0C0F1A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920240"/>
            <a:ext cx="4498848" cy="449884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21792" y="2487168"/>
            <a:ext cx="4462272" cy="713232"/>
          </a:xfrm>
          <a:prstGeom prst="roundRect">
            <a:avLst>
              <a:gd name="adj" fmla="val 7692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" y="3218688"/>
            <a:ext cx="1931213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3227832"/>
            <a:ext cx="18397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 or MEM-ID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21792" y="3246120"/>
            <a:ext cx="4462272" cy="658368"/>
          </a:xfrm>
          <a:prstGeom prst="roundRect">
            <a:avLst>
              <a:gd name="adj" fmla="val 8333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6656" y="3922776"/>
            <a:ext cx="2715768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3931920"/>
            <a:ext cx="2624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row — click to select member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57200" y="66019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376672" y="1810512"/>
            <a:ext cx="1353312" cy="4745736"/>
          </a:xfrm>
          <a:prstGeom prst="roundRect">
            <a:avLst>
              <a:gd name="adj" fmla="val 6757"/>
            </a:avLst>
          </a:prstGeom>
          <a:solidFill>
            <a:srgbClr val="1E2440"/>
          </a:solidFill>
          <a:ln w="12700">
            <a:solidFill>
              <a:srgbClr val="36407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76672" y="1965960"/>
            <a:ext cx="1353312" cy="440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64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230368" y="4114800"/>
            <a:ext cx="128016" cy="20116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48272" y="4114800"/>
            <a:ext cx="128016" cy="20116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94576" y="1810512"/>
            <a:ext cx="4974336" cy="4745736"/>
          </a:xfrm>
          <a:prstGeom prst="roundRect">
            <a:avLst>
              <a:gd name="adj" fmla="val 1927"/>
            </a:avLst>
          </a:prstGeom>
          <a:solidFill>
            <a:srgbClr val="0C0F1A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920240"/>
            <a:ext cx="4718304" cy="4498848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059168" y="1993392"/>
            <a:ext cx="4681728" cy="457200"/>
          </a:xfrm>
          <a:prstGeom prst="roundRect">
            <a:avLst>
              <a:gd name="adj" fmla="val 12000"/>
            </a:avLst>
          </a:prstGeom>
          <a:solidFill>
            <a:srgbClr val="7880A0">
              <a:alpha val="12000"/>
            </a:srgbClr>
          </a:solidFill>
          <a:ln w="27940">
            <a:solidFill>
              <a:srgbClr val="7880A0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114032" y="2468880"/>
            <a:ext cx="2359152" cy="201168"/>
          </a:xfrm>
          <a:prstGeom prst="roundRect">
            <a:avLst>
              <a:gd name="adj" fmla="val 18182"/>
            </a:avLst>
          </a:prstGeom>
          <a:solidFill>
            <a:srgbClr val="7880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150608" y="2478024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indicator (Step 3 active)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7059168" y="2578608"/>
            <a:ext cx="4681728" cy="2788920"/>
          </a:xfrm>
          <a:prstGeom prst="roundRect">
            <a:avLst>
              <a:gd name="adj" fmla="val 1967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114032" y="5385816"/>
            <a:ext cx="1503274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150608" y="5394960"/>
            <a:ext cx="1411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Summary card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7059168" y="3154680"/>
            <a:ext cx="4681728" cy="502920"/>
          </a:xfrm>
          <a:prstGeom prst="roundRect">
            <a:avLst>
              <a:gd name="adj" fmla="val 10909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114032" y="3675888"/>
            <a:ext cx="2002536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150608" y="368503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+ MEM-ID chip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7059168" y="3749040"/>
            <a:ext cx="4681728" cy="502920"/>
          </a:xfrm>
          <a:prstGeom prst="roundRect">
            <a:avLst>
              <a:gd name="adj" fmla="val 10909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114032" y="4270248"/>
            <a:ext cx="2002536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150608" y="4279392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title + GG-XXXX chip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7059168" y="4370832"/>
            <a:ext cx="4681728" cy="658368"/>
          </a:xfrm>
          <a:prstGeom prst="roundRect">
            <a:avLst>
              <a:gd name="adj" fmla="val 8333"/>
            </a:avLst>
          </a:prstGeom>
          <a:solidFill>
            <a:srgbClr val="A374F7">
              <a:alpha val="12000"/>
            </a:srgbClr>
          </a:solidFill>
          <a:ln w="27940">
            <a:solidFill>
              <a:srgbClr val="A374F7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114032" y="5047488"/>
            <a:ext cx="2644445" cy="201168"/>
          </a:xfrm>
          <a:prstGeom prst="roundRect">
            <a:avLst>
              <a:gd name="adj" fmla="val 18182"/>
            </a:avLst>
          </a:prstGeom>
          <a:solidFill>
            <a:srgbClr val="A374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150608" y="5056632"/>
            <a:ext cx="25530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(editable before confirm)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9006840" y="6016752"/>
            <a:ext cx="2395728" cy="475488"/>
          </a:xfrm>
          <a:prstGeom prst="roundRect">
            <a:avLst>
              <a:gd name="adj" fmla="val 11538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061704" y="6510528"/>
            <a:ext cx="1146658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9098280" y="6519672"/>
            <a:ext cx="1055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Issue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6894576" y="6601968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457200" y="6876288"/>
            <a:ext cx="11411712" cy="320040"/>
          </a:xfrm>
          <a:prstGeom prst="roundRect">
            <a:avLst>
              <a:gd name="adj" fmla="val 22857"/>
            </a:avLst>
          </a:prstGeom>
          <a:solidFill>
            <a:srgbClr val="1A1A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21792" y="691286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C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Due Date = Today + Loan Duration (from Settings). You can edit the due date in Step 3 if needed for special cases.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83464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 ·  BARCODE SCANNER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Barcode Scanner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way to issue, return, or add books. Two modes, one screen.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903720" cy="4956048"/>
          </a:xfrm>
          <a:prstGeom prst="roundRect">
            <a:avLst>
              <a:gd name="adj" fmla="val 1845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19072"/>
            <a:ext cx="6656832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1783080"/>
            <a:ext cx="3639312" cy="3547872"/>
          </a:xfrm>
          <a:prstGeom prst="roundRect">
            <a:avLst>
              <a:gd name="adj" fmla="val 1546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" y="5349240"/>
            <a:ext cx="1645920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53583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/ Return panel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8368" y="1938528"/>
            <a:ext cx="1874520" cy="475488"/>
          </a:xfrm>
          <a:prstGeom prst="roundRect">
            <a:avLst>
              <a:gd name="adj" fmla="val 11538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2432304"/>
            <a:ext cx="1859890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" y="2441448"/>
            <a:ext cx="1768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Book tab (active)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633472" y="1938528"/>
            <a:ext cx="1572768" cy="475488"/>
          </a:xfrm>
          <a:prstGeom prst="roundRect">
            <a:avLst>
              <a:gd name="adj" fmla="val 11538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88336" y="2432304"/>
            <a:ext cx="1289304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24912" y="2441448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Book tab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8368" y="2487168"/>
            <a:ext cx="3493008" cy="841248"/>
          </a:xfrm>
          <a:prstGeom prst="roundRect">
            <a:avLst>
              <a:gd name="adj" fmla="val 6522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3346704"/>
            <a:ext cx="1574597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3355848"/>
            <a:ext cx="148315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input field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407408" y="1783080"/>
            <a:ext cx="2944368" cy="3127248"/>
          </a:xfrm>
          <a:prstGeom prst="roundRect">
            <a:avLst>
              <a:gd name="adj" fmla="val 1863"/>
            </a:avLst>
          </a:prstGeom>
          <a:solidFill>
            <a:srgbClr val="A374F7">
              <a:alpha val="12000"/>
            </a:srgbClr>
          </a:solidFill>
          <a:ln w="27940">
            <a:solidFill>
              <a:srgbClr val="A374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62272" y="4928616"/>
            <a:ext cx="1217981" cy="201168"/>
          </a:xfrm>
          <a:prstGeom prst="roundRect">
            <a:avLst>
              <a:gd name="adj" fmla="val 18182"/>
            </a:avLst>
          </a:prstGeom>
          <a:solidFill>
            <a:srgbClr val="A374F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98848" y="4937760"/>
            <a:ext cx="1126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Book panel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34840" y="2359152"/>
            <a:ext cx="2907792" cy="749808"/>
          </a:xfrm>
          <a:prstGeom prst="roundRect">
            <a:avLst>
              <a:gd name="adj" fmla="val 7317"/>
            </a:avLst>
          </a:prstGeom>
          <a:solidFill>
            <a:srgbClr val="1FC8C0">
              <a:alpha val="12000"/>
            </a:srgbClr>
          </a:solidFill>
          <a:ln w="27940">
            <a:solidFill>
              <a:srgbClr val="1FC8C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89704" y="3127248"/>
            <a:ext cx="1574597" cy="201168"/>
          </a:xfrm>
          <a:prstGeom prst="roundRect">
            <a:avLst>
              <a:gd name="adj" fmla="val 18182"/>
            </a:avLst>
          </a:prstGeom>
          <a:solidFill>
            <a:srgbClr val="1FC8C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136392"/>
            <a:ext cx="148315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format spec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144768" y="1691640"/>
            <a:ext cx="1143000" cy="411480"/>
          </a:xfrm>
          <a:prstGeom prst="roundRect">
            <a:avLst>
              <a:gd name="adj" fmla="val 13333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9632" y="2121408"/>
            <a:ext cx="1431950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36208" y="2130552"/>
            <a:ext cx="13405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Type/paste button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571232" y="1600200"/>
            <a:ext cx="4315968" cy="2788920"/>
          </a:xfrm>
          <a:prstGeom prst="roundRect">
            <a:avLst>
              <a:gd name="adj" fmla="val 3934"/>
            </a:avLst>
          </a:prstGeom>
          <a:solidFill>
            <a:srgbClr val="181D30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726680" y="1737360"/>
            <a:ext cx="566928" cy="5669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2668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↗️</a:t>
            </a:r>
            <a:endParaRPr lang="en-US" sz="1612" dirty="0"/>
          </a:p>
        </p:txBody>
      </p:sp>
      <p:sp>
        <p:nvSpPr>
          <p:cNvPr id="32" name="Text 29"/>
          <p:cNvSpPr/>
          <p:nvPr/>
        </p:nvSpPr>
        <p:spPr>
          <a:xfrm>
            <a:off x="8394192" y="17647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/ Return Mode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726680" y="2304288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82128" y="219456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Issue Book or Return Book tab.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726680" y="2688336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82128" y="257860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your USB/wireless scanner at the book's ISBN barcode.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726680" y="3072384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882128" y="296265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triggers on Enter key — member search panel opens.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726680" y="3456432"/>
            <a:ext cx="91440" cy="914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82128" y="3346704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standard 3-step issue or return flow.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571232" y="4526280"/>
            <a:ext cx="4315968" cy="2560320"/>
          </a:xfrm>
          <a:prstGeom prst="roundRect">
            <a:avLst>
              <a:gd name="adj" fmla="val 4286"/>
            </a:avLst>
          </a:prstGeom>
          <a:solidFill>
            <a:srgbClr val="181D30"/>
          </a:solidFill>
          <a:ln w="12700">
            <a:solidFill>
              <a:srgbClr val="A374F7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7726680" y="4663440"/>
            <a:ext cx="566928" cy="566928"/>
          </a:xfrm>
          <a:prstGeom prst="ellipse">
            <a:avLst/>
          </a:prstGeom>
          <a:solidFill>
            <a:srgbClr val="A374F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726680" y="4663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612" dirty="0"/>
          </a:p>
        </p:txBody>
      </p:sp>
      <p:sp>
        <p:nvSpPr>
          <p:cNvPr id="44" name="Text 41"/>
          <p:cNvSpPr/>
          <p:nvPr/>
        </p:nvSpPr>
        <p:spPr>
          <a:xfrm>
            <a:off x="8394192" y="46817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37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Book Mode — Format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7726680" y="510235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Pipe-delimited string (max 180 chars):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662672" y="5413248"/>
            <a:ext cx="4133088" cy="438912"/>
          </a:xfrm>
          <a:prstGeom prst="roundRect">
            <a:avLst>
              <a:gd name="adj" fmla="val 12500"/>
            </a:avLst>
          </a:prstGeom>
          <a:solidFill>
            <a:srgbClr val="0C0F1A"/>
          </a:solidFill>
          <a:ln w="12700">
            <a:solidFill>
              <a:srgbClr val="A374F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754112" y="544982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GG-XXXX|Title|Author|Publisher|Year|Genre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7726680" y="5925312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pipe-separated fields · press Enter to import the book.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7726680" y="623620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scanner? Use "Type/paste barcode" button (top right).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7571232" y="6693408"/>
            <a:ext cx="4315968" cy="347472"/>
          </a:xfrm>
          <a:prstGeom prst="roundRect">
            <a:avLst>
              <a:gd name="adj" fmla="val 21053"/>
            </a:avLst>
          </a:prstGeom>
          <a:solidFill>
            <a:srgbClr val="1E2440"/>
          </a:solidFill>
          <a:ln w="12700">
            <a:solidFill>
              <a:srgbClr val="1FC8C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726680" y="672998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C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Sidebar → CIRCULATION → Barcode Scanner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83464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14–16  ·  RETURN BOOK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a Book — 3-Step Flow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618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13350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Member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61488" y="1453896"/>
            <a:ext cx="256032" cy="54864"/>
          </a:xfrm>
          <a:prstGeom prst="rect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261872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12618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93008" y="13350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Book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21808" y="1453896"/>
            <a:ext cx="256032" cy="54864"/>
          </a:xfrm>
          <a:prstGeom prst="rect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1261872"/>
            <a:ext cx="2286000" cy="438912"/>
          </a:xfrm>
          <a:prstGeom prst="roundRect">
            <a:avLst>
              <a:gd name="adj" fmla="val 20833"/>
            </a:avLst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42432" y="126187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53328" y="13350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Fine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810512"/>
            <a:ext cx="3547872" cy="4745736"/>
          </a:xfrm>
          <a:prstGeom prst="roundRect">
            <a:avLst>
              <a:gd name="adj" fmla="val 2577"/>
            </a:avLst>
          </a:prstGeom>
          <a:solidFill>
            <a:srgbClr val="0C0F1A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0240"/>
            <a:ext cx="3328416" cy="449884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94360" y="2011680"/>
            <a:ext cx="3273552" cy="566928"/>
          </a:xfrm>
          <a:prstGeom prst="roundRect">
            <a:avLst>
              <a:gd name="adj" fmla="val 9677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9224" y="2596896"/>
            <a:ext cx="2287829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2606040"/>
            <a:ext cx="21963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Member with Active Loans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94360" y="2651760"/>
            <a:ext cx="3273552" cy="658368"/>
          </a:xfrm>
          <a:prstGeom prst="roundRect">
            <a:avLst>
              <a:gd name="adj" fmla="val 8333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9224" y="3328416"/>
            <a:ext cx="1075334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3337560"/>
            <a:ext cx="9838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input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94360" y="3383280"/>
            <a:ext cx="3273552" cy="868680"/>
          </a:xfrm>
          <a:prstGeom prst="roundRect">
            <a:avLst>
              <a:gd name="adj" fmla="val 6316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9224" y="4270248"/>
            <a:ext cx="2501798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4279392"/>
            <a:ext cx="24103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result + "1 active" badge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2788920" y="3547872"/>
            <a:ext cx="1078992" cy="411480"/>
          </a:xfrm>
          <a:prstGeom prst="roundRect">
            <a:avLst>
              <a:gd name="adj" fmla="val 13333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843784" y="3977640"/>
            <a:ext cx="647395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880360" y="3986784"/>
            <a:ext cx="5559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57200" y="6601968"/>
            <a:ext cx="3547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178808" y="4160520"/>
            <a:ext cx="128016" cy="20116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15968" y="1810512"/>
            <a:ext cx="3547872" cy="4745736"/>
          </a:xfrm>
          <a:prstGeom prst="roundRect">
            <a:avLst>
              <a:gd name="adj" fmla="val 2577"/>
            </a:avLst>
          </a:prstGeom>
          <a:solidFill>
            <a:srgbClr val="0C0F1A"/>
          </a:solidFill>
          <a:ln w="12700">
            <a:solidFill>
              <a:srgbClr val="4A90E2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920240"/>
            <a:ext cx="3328416" cy="4498848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4453128" y="1965960"/>
            <a:ext cx="3273552" cy="868680"/>
          </a:xfrm>
          <a:prstGeom prst="roundRect">
            <a:avLst>
              <a:gd name="adj" fmla="val 6316"/>
            </a:avLst>
          </a:prstGeom>
          <a:solidFill>
            <a:srgbClr val="7880A0">
              <a:alpha val="12000"/>
            </a:srgbClr>
          </a:solidFill>
          <a:ln w="27940">
            <a:solidFill>
              <a:srgbClr val="7880A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07992" y="2852928"/>
            <a:ext cx="1931213" cy="201168"/>
          </a:xfrm>
          <a:prstGeom prst="roundRect">
            <a:avLst>
              <a:gd name="adj" fmla="val 18182"/>
            </a:avLst>
          </a:prstGeom>
          <a:solidFill>
            <a:srgbClr val="7880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544568" y="2862072"/>
            <a:ext cx="183977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bar — Step 2 active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4453128" y="2907792"/>
            <a:ext cx="3273552" cy="566928"/>
          </a:xfrm>
          <a:prstGeom prst="roundRect">
            <a:avLst>
              <a:gd name="adj" fmla="val 9677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507992" y="3493008"/>
            <a:ext cx="1788566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544568" y="3502152"/>
            <a:ext cx="16971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member banner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4453128" y="4251960"/>
            <a:ext cx="3273552" cy="658368"/>
          </a:xfrm>
          <a:prstGeom prst="roundRect">
            <a:avLst>
              <a:gd name="adj" fmla="val 8333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507992" y="4928616"/>
            <a:ext cx="2002536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544568" y="4937760"/>
            <a:ext cx="1911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GG-0011 · Issued · Select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4315968" y="6601968"/>
            <a:ext cx="3547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8037576" y="4160520"/>
            <a:ext cx="128016" cy="20116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174736" y="1810512"/>
            <a:ext cx="3547872" cy="4745736"/>
          </a:xfrm>
          <a:prstGeom prst="roundRect">
            <a:avLst>
              <a:gd name="adj" fmla="val 2577"/>
            </a:avLst>
          </a:prstGeom>
          <a:solidFill>
            <a:srgbClr val="0C0F1A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1920240"/>
            <a:ext cx="3328416" cy="4498848"/>
          </a:xfrm>
          <a:prstGeom prst="rect">
            <a:avLst/>
          </a:prstGeom>
        </p:spPr>
      </p:pic>
      <p:sp>
        <p:nvSpPr>
          <p:cNvPr id="47" name="Shape 42"/>
          <p:cNvSpPr/>
          <p:nvPr/>
        </p:nvSpPr>
        <p:spPr>
          <a:xfrm>
            <a:off x="8311896" y="1901952"/>
            <a:ext cx="3273552" cy="640080"/>
          </a:xfrm>
          <a:prstGeom prst="roundRect">
            <a:avLst>
              <a:gd name="adj" fmla="val 8571"/>
            </a:avLst>
          </a:prstGeom>
          <a:solidFill>
            <a:srgbClr val="7880A0">
              <a:alpha val="12000"/>
            </a:srgbClr>
          </a:solidFill>
          <a:ln w="27940">
            <a:solidFill>
              <a:srgbClr val="7880A0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8366760" y="2560320"/>
            <a:ext cx="1146658" cy="201168"/>
          </a:xfrm>
          <a:prstGeom prst="roundRect">
            <a:avLst>
              <a:gd name="adj" fmla="val 18182"/>
            </a:avLst>
          </a:prstGeom>
          <a:solidFill>
            <a:srgbClr val="7880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8403336" y="2569464"/>
            <a:ext cx="10552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active</a:t>
            </a:r>
            <a:endParaRPr lang="en-US" sz="750" dirty="0"/>
          </a:p>
        </p:txBody>
      </p:sp>
      <p:sp>
        <p:nvSpPr>
          <p:cNvPr id="50" name="Shape 45"/>
          <p:cNvSpPr/>
          <p:nvPr/>
        </p:nvSpPr>
        <p:spPr>
          <a:xfrm>
            <a:off x="8311896" y="2633472"/>
            <a:ext cx="3273552" cy="804672"/>
          </a:xfrm>
          <a:prstGeom prst="roundRect">
            <a:avLst>
              <a:gd name="adj" fmla="val 6818"/>
            </a:avLst>
          </a:prstGeom>
          <a:solidFill>
            <a:srgbClr val="F5A623">
              <a:alpha val="12000"/>
            </a:srgbClr>
          </a:solidFill>
          <a:ln w="27940">
            <a:solidFill>
              <a:srgbClr val="F5A623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8366760" y="3456432"/>
            <a:ext cx="1859890" cy="201168"/>
          </a:xfrm>
          <a:prstGeom prst="roundRect">
            <a:avLst>
              <a:gd name="adj" fmla="val 18182"/>
            </a:avLst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403336" y="3465576"/>
            <a:ext cx="17684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Issued banner</a:t>
            </a:r>
            <a:endParaRPr lang="en-US" sz="750" dirty="0"/>
          </a:p>
        </p:txBody>
      </p:sp>
      <p:sp>
        <p:nvSpPr>
          <p:cNvPr id="53" name="Shape 48"/>
          <p:cNvSpPr/>
          <p:nvPr/>
        </p:nvSpPr>
        <p:spPr>
          <a:xfrm>
            <a:off x="8311896" y="3520440"/>
            <a:ext cx="3273552" cy="1664208"/>
          </a:xfrm>
          <a:prstGeom prst="roundRect">
            <a:avLst>
              <a:gd name="adj" fmla="val 3297"/>
            </a:avLst>
          </a:prstGeom>
          <a:solidFill>
            <a:srgbClr val="4A90E2">
              <a:alpha val="12000"/>
            </a:srgbClr>
          </a:solidFill>
          <a:ln w="27940">
            <a:solidFill>
              <a:srgbClr val="4A90E2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8366760" y="5202936"/>
            <a:ext cx="1217981" cy="201168"/>
          </a:xfrm>
          <a:prstGeom prst="roundRect">
            <a:avLst>
              <a:gd name="adj" fmla="val 18182"/>
            </a:avLst>
          </a:prstGeom>
          <a:solidFill>
            <a:srgbClr val="4A90E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403336" y="5212080"/>
            <a:ext cx="1126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Summary</a:t>
            </a:r>
            <a:endParaRPr lang="en-US" sz="750" dirty="0"/>
          </a:p>
        </p:txBody>
      </p:sp>
      <p:sp>
        <p:nvSpPr>
          <p:cNvPr id="56" name="Shape 51"/>
          <p:cNvSpPr/>
          <p:nvPr/>
        </p:nvSpPr>
        <p:spPr>
          <a:xfrm>
            <a:off x="8311896" y="5257800"/>
            <a:ext cx="3273552" cy="1078992"/>
          </a:xfrm>
          <a:prstGeom prst="roundRect">
            <a:avLst>
              <a:gd name="adj" fmla="val 5085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8366760" y="6355080"/>
            <a:ext cx="1360627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8403336" y="6364224"/>
            <a:ext cx="12691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Calculation</a:t>
            </a:r>
            <a:endParaRPr lang="en-US" sz="750" dirty="0"/>
          </a:p>
        </p:txBody>
      </p:sp>
      <p:sp>
        <p:nvSpPr>
          <p:cNvPr id="59" name="Shape 54"/>
          <p:cNvSpPr/>
          <p:nvPr/>
        </p:nvSpPr>
        <p:spPr>
          <a:xfrm>
            <a:off x="10049256" y="6419088"/>
            <a:ext cx="1572768" cy="475488"/>
          </a:xfrm>
          <a:prstGeom prst="roundRect">
            <a:avLst>
              <a:gd name="adj" fmla="val 11538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10104120" y="6912864"/>
            <a:ext cx="1217981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10140696" y="6922008"/>
            <a:ext cx="1126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Return</a:t>
            </a:r>
            <a:endParaRPr lang="en-US" sz="750" dirty="0"/>
          </a:p>
        </p:txBody>
      </p:sp>
      <p:sp>
        <p:nvSpPr>
          <p:cNvPr id="62" name="Text 57"/>
          <p:cNvSpPr/>
          <p:nvPr/>
        </p:nvSpPr>
        <p:spPr>
          <a:xfrm>
            <a:off x="8174736" y="6601968"/>
            <a:ext cx="3547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63" name="Shape 58"/>
          <p:cNvSpPr/>
          <p:nvPr/>
        </p:nvSpPr>
        <p:spPr>
          <a:xfrm>
            <a:off x="457200" y="6876288"/>
            <a:ext cx="11411712" cy="320040"/>
          </a:xfrm>
          <a:prstGeom prst="roundRect">
            <a:avLst>
              <a:gd name="adj" fmla="val 22857"/>
            </a:avLst>
          </a:prstGeom>
          <a:solidFill>
            <a:srgbClr val="001A0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21792" y="6912864"/>
            <a:ext cx="11064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Fine = 0 if returned on or before due date. Fine = Days Overdue × ₹/day. This rate is set in Settings → Loan Rules.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92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 ·  SUCCESS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Success — Toast Notification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toast confirms the return is saved. The book is immediately available again.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903720" cy="4956048"/>
          </a:xfrm>
          <a:prstGeom prst="roundRect">
            <a:avLst>
              <a:gd name="adj" fmla="val 1845"/>
            </a:avLst>
          </a:prstGeom>
          <a:solidFill>
            <a:srgbClr val="0C0F1A"/>
          </a:solidFill>
          <a:ln w="12700">
            <a:solidFill>
              <a:srgbClr val="2A3356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19072"/>
            <a:ext cx="6656832" cy="4681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91072" y="5943600"/>
            <a:ext cx="914400" cy="530352"/>
          </a:xfrm>
          <a:prstGeom prst="roundRect">
            <a:avLst>
              <a:gd name="adj" fmla="val 10345"/>
            </a:avLst>
          </a:prstGeom>
          <a:solidFill>
            <a:srgbClr val="2DD4A0">
              <a:alpha val="12000"/>
            </a:srgbClr>
          </a:solidFill>
          <a:ln w="27940">
            <a:solidFill>
              <a:srgbClr val="2DD4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45936" y="6492240"/>
            <a:ext cx="2216506" cy="201168"/>
          </a:xfrm>
          <a:prstGeom prst="roundRect">
            <a:avLst>
              <a:gd name="adj" fmla="val 18182"/>
            </a:avLst>
          </a:prstGeom>
          <a:solidFill>
            <a:srgbClr val="2DD4A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82512" y="6501384"/>
            <a:ext cx="212506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 returned successfully"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7571232" y="1600200"/>
            <a:ext cx="4315968" cy="1051560"/>
          </a:xfrm>
          <a:prstGeom prst="roundRect">
            <a:avLst>
              <a:gd name="adj" fmla="val 10435"/>
            </a:avLst>
          </a:prstGeom>
          <a:solidFill>
            <a:srgbClr val="001500"/>
          </a:solidFill>
          <a:ln w="12700">
            <a:solidFill>
              <a:srgbClr val="2DD4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26680" y="1737360"/>
            <a:ext cx="530352" cy="530352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26680" y="1737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339328" y="175564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returned successfully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39328" y="2084832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dismisses automatically in ~3 seconds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571232" y="2788920"/>
            <a:ext cx="4315968" cy="2880360"/>
          </a:xfrm>
          <a:prstGeom prst="roundRect">
            <a:avLst>
              <a:gd name="adj" fmla="val 3810"/>
            </a:avLst>
          </a:prstGeom>
          <a:solidFill>
            <a:srgbClr val="181D30"/>
          </a:solidFill>
          <a:ln w="12700">
            <a:solidFill>
              <a:srgbClr val="2DD4A0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4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726680" y="2944368"/>
            <a:ext cx="530352" cy="530352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26680" y="2944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8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508" dirty="0"/>
          </a:p>
        </p:txBody>
      </p:sp>
      <p:sp>
        <p:nvSpPr>
          <p:cNvPr id="19" name="Text 16"/>
          <p:cNvSpPr/>
          <p:nvPr/>
        </p:nvSpPr>
        <p:spPr>
          <a:xfrm>
            <a:off x="8339328" y="29718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D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after return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726680" y="3493008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82128" y="33832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status flips to "Available" instantly.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726680" y="3858768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82128" y="374904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Member's Active Loans count drops by 1.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726680" y="4224528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82128" y="41148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recorded in Recent Activity.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726680" y="4590288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82128" y="44805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"Issued" count decreases by 1.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726680" y="4956048"/>
            <a:ext cx="91440" cy="91440"/>
          </a:xfrm>
          <a:prstGeom prst="ellipse">
            <a:avLst/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82128" y="484632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entry cleared (if applicable).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571232" y="5806440"/>
            <a:ext cx="4315968" cy="749808"/>
          </a:xfrm>
          <a:prstGeom prst="roundRect">
            <a:avLst>
              <a:gd name="adj" fmla="val 12195"/>
            </a:avLst>
          </a:prstGeom>
          <a:solidFill>
            <a:srgbClr val="1A0000"/>
          </a:solidFill>
          <a:ln w="12700">
            <a:solidFill>
              <a:srgbClr val="F0606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26680" y="5852160"/>
            <a:ext cx="4096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If NO toast appears — the return did NOT save. Check the book's status in the Books list before the member leaves the library.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System Workflow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the librarian performs — mapped in one view.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36592" y="1508760"/>
            <a:ext cx="2697480" cy="5029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36592" y="15087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PIN LOGIN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52744" y="2048256"/>
            <a:ext cx="201168" cy="320040"/>
          </a:xfrm>
          <a:prstGeom prst="down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2395728"/>
            <a:ext cx="3547872" cy="502920"/>
          </a:xfrm>
          <a:prstGeom prst="roundRect">
            <a:avLst>
              <a:gd name="adj" fmla="val 18182"/>
            </a:avLst>
          </a:prstGeom>
          <a:solidFill>
            <a:srgbClr val="1E2440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3957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" y="2624328"/>
            <a:ext cx="3474720" cy="36576"/>
          </a:xfrm>
          <a:prstGeom prst="rect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670048"/>
            <a:ext cx="201168" cy="292608"/>
          </a:xfrm>
          <a:prstGeom prst="downArrow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52744" y="2926080"/>
            <a:ext cx="201168" cy="292608"/>
          </a:xfrm>
          <a:prstGeom prst="downArrow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82128" y="2624328"/>
            <a:ext cx="3520440" cy="36576"/>
          </a:xfrm>
          <a:prstGeom prst="rect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01400" y="2670048"/>
            <a:ext cx="201168" cy="292608"/>
          </a:xfrm>
          <a:prstGeom prst="downArrow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9923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E24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9923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Books List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91640" y="3493008"/>
            <a:ext cx="201168" cy="274320"/>
          </a:xfrm>
          <a:prstGeom prst="down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03904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E24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0390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Add Book Form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691640" y="4297680"/>
            <a:ext cx="201168" cy="274320"/>
          </a:xfrm>
          <a:prstGeom prst="down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608576"/>
            <a:ext cx="2743200" cy="438912"/>
          </a:xfrm>
          <a:prstGeom prst="roundRect">
            <a:avLst>
              <a:gd name="adj" fmla="val 50000"/>
            </a:avLst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085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Saved · GG-XXXX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324612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E2440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24612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Members List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61888" y="3730752"/>
            <a:ext cx="201168" cy="274320"/>
          </a:xfrm>
          <a:prstGeom prst="downArrow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4041648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E2440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04164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Add Member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61888" y="4535424"/>
            <a:ext cx="201168" cy="274320"/>
          </a:xfrm>
          <a:prstGeom prst="downArrow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4846320"/>
            <a:ext cx="3200400" cy="438912"/>
          </a:xfrm>
          <a:prstGeom prst="roundRect">
            <a:avLst>
              <a:gd name="adj" fmla="val 50000"/>
            </a:avLst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48463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MEM-XXXX Assigned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45168" y="299923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E24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28048" y="299923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↗️  Issue Book (1→2→3)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0625328" y="3493008"/>
            <a:ext cx="201168" cy="274320"/>
          </a:xfrm>
          <a:prstGeom prst="downArrow">
            <a:avLst/>
          </a:prstGeom>
          <a:solidFill>
            <a:srgbClr val="F5A623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45168" y="3803904"/>
            <a:ext cx="2743200" cy="438912"/>
          </a:xfrm>
          <a:prstGeom prst="roundRect">
            <a:avLst>
              <a:gd name="adj" fmla="val 50000"/>
            </a:avLst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5168" y="380390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Issued · Due Date Set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625328" y="4279392"/>
            <a:ext cx="201168" cy="292608"/>
          </a:xfrm>
          <a:prstGeom prst="downArrow">
            <a:avLst/>
          </a:prstGeom>
          <a:solidFill>
            <a:srgbClr val="36407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45168" y="4608576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E2440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28048" y="460857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A9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Return Book (1→2→3)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625328" y="5102352"/>
            <a:ext cx="201168" cy="274320"/>
          </a:xfrm>
          <a:prstGeom prst="downArrow">
            <a:avLst/>
          </a:prstGeom>
          <a:solidFill>
            <a:srgbClr val="4A90E2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45168" y="5413248"/>
            <a:ext cx="2743200" cy="438912"/>
          </a:xfrm>
          <a:prstGeom prst="roundRect">
            <a:avLst>
              <a:gd name="adj" fmla="val 50000"/>
            </a:avLst>
          </a:prstGeom>
          <a:solidFill>
            <a:srgbClr val="2DD4A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45168" y="54132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Returned · Fine Calc.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93008" y="5961888"/>
            <a:ext cx="5193792" cy="475488"/>
          </a:xfrm>
          <a:prstGeom prst="roundRect">
            <a:avLst>
              <a:gd name="adj" fmla="val 19231"/>
            </a:avLst>
          </a:prstGeom>
          <a:solidFill>
            <a:srgbClr val="1E24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59893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BARCODE SCANNER — faster Issue / Return / Add Book without typing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6537960"/>
            <a:ext cx="11411712" cy="384048"/>
          </a:xfrm>
          <a:prstGeom prst="roundRect">
            <a:avLst>
              <a:gd name="adj" fmla="val 19048"/>
            </a:avLst>
          </a:prstGeom>
          <a:solidFill>
            <a:srgbClr val="181D30"/>
          </a:solidFill>
          <a:ln w="12700">
            <a:solidFill>
              <a:srgbClr val="2A33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" y="6583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SETTINGS (sidebar → TOOLS):  Loan Duration  ·  Fine Per Day  ·  Change PIN  ·  Language  ·  Backup  ·  Android Import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2026-07-19T13:21:43Z</dcterms:created>
  <dcterms:modified xsi:type="dcterms:W3CDTF">2026-07-19T13:21:43Z</dcterms:modified>
</cp:coreProperties>
</file>